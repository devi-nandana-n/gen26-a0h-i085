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sis Ideathon" id="{738414BB-E90B-39D7-38DA-93576361268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1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00A437-54D4-4412-BAD3-A5FC7F52CA1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2667EA6F-483D-4037-B17F-BC237CC796BC}">
      <dgm:prSet phldrT="[Text]"/>
      <dgm:spPr/>
      <dgm:t>
        <a:bodyPr/>
        <a:lstStyle/>
        <a:p>
          <a:r>
            <a:rPr lang="en-US" dirty="0"/>
            <a:t>A student finds a job or internship offer online</a:t>
          </a:r>
          <a:endParaRPr lang="en-IN" dirty="0"/>
        </a:p>
      </dgm:t>
    </dgm:pt>
    <dgm:pt modelId="{41D3112F-E5BC-4FA0-9788-6B8DA93984A1}" type="parTrans" cxnId="{84A18368-425E-40C4-BFF6-49F62C302FA5}">
      <dgm:prSet/>
      <dgm:spPr/>
      <dgm:t>
        <a:bodyPr/>
        <a:lstStyle/>
        <a:p>
          <a:endParaRPr lang="en-IN"/>
        </a:p>
      </dgm:t>
    </dgm:pt>
    <dgm:pt modelId="{5CB96E96-014F-4C3B-BB56-B59D0D4168C2}" type="sibTrans" cxnId="{84A18368-425E-40C4-BFF6-49F62C302FA5}">
      <dgm:prSet/>
      <dgm:spPr/>
      <dgm:t>
        <a:bodyPr/>
        <a:lstStyle/>
        <a:p>
          <a:endParaRPr lang="en-IN"/>
        </a:p>
      </dgm:t>
    </dgm:pt>
    <dgm:pt modelId="{DE38D3EE-13C9-4136-AD5E-B47115F25A14}">
      <dgm:prSet phldrT="[Text]"/>
      <dgm:spPr/>
      <dgm:t>
        <a:bodyPr/>
        <a:lstStyle/>
        <a:p>
          <a:r>
            <a:rPr lang="en-US" dirty="0"/>
            <a:t>The student contacts the recruiter</a:t>
          </a:r>
          <a:endParaRPr lang="en-IN" dirty="0"/>
        </a:p>
      </dgm:t>
    </dgm:pt>
    <dgm:pt modelId="{A7832172-5C3C-4198-8E3C-8FB5C3BB0028}" type="parTrans" cxnId="{95FE7CDE-EA02-4D33-A352-3870D9798B00}">
      <dgm:prSet/>
      <dgm:spPr/>
      <dgm:t>
        <a:bodyPr/>
        <a:lstStyle/>
        <a:p>
          <a:endParaRPr lang="en-IN"/>
        </a:p>
      </dgm:t>
    </dgm:pt>
    <dgm:pt modelId="{8D8276CB-5030-47A5-BC40-676AD590B4B7}" type="sibTrans" cxnId="{95FE7CDE-EA02-4D33-A352-3870D9798B00}">
      <dgm:prSet/>
      <dgm:spPr/>
      <dgm:t>
        <a:bodyPr/>
        <a:lstStyle/>
        <a:p>
          <a:endParaRPr lang="en-IN"/>
        </a:p>
      </dgm:t>
    </dgm:pt>
    <dgm:pt modelId="{30E7181C-32CF-4858-9DD6-DF457ADAEB34}">
      <dgm:prSet phldrT="[Text]"/>
      <dgm:spPr/>
      <dgm:t>
        <a:bodyPr/>
        <a:lstStyle/>
        <a:p>
          <a:r>
            <a:rPr lang="en-US" dirty="0"/>
            <a:t>The recruiter requests money or personal documents</a:t>
          </a:r>
          <a:endParaRPr lang="en-IN" dirty="0"/>
        </a:p>
      </dgm:t>
    </dgm:pt>
    <dgm:pt modelId="{DCA53A32-8487-4BFB-8C9A-0865C206ED72}" type="parTrans" cxnId="{68AC9476-5E3C-448F-B40C-F15BA7560A5E}">
      <dgm:prSet/>
      <dgm:spPr/>
      <dgm:t>
        <a:bodyPr/>
        <a:lstStyle/>
        <a:p>
          <a:endParaRPr lang="en-IN"/>
        </a:p>
      </dgm:t>
    </dgm:pt>
    <dgm:pt modelId="{6D879185-74F8-4AC5-BDBF-4BAB33B85DE6}" type="sibTrans" cxnId="{68AC9476-5E3C-448F-B40C-F15BA7560A5E}">
      <dgm:prSet/>
      <dgm:spPr/>
      <dgm:t>
        <a:bodyPr/>
        <a:lstStyle/>
        <a:p>
          <a:endParaRPr lang="en-IN"/>
        </a:p>
      </dgm:t>
    </dgm:pt>
    <dgm:pt modelId="{1AAFA147-DCBE-4443-9AA1-32F6244C1808}" type="pres">
      <dgm:prSet presAssocID="{E500A437-54D4-4412-BAD3-A5FC7F52CA11}" presName="Name0" presStyleCnt="0">
        <dgm:presLayoutVars>
          <dgm:dir/>
          <dgm:animLvl val="lvl"/>
          <dgm:resizeHandles val="exact"/>
        </dgm:presLayoutVars>
      </dgm:prSet>
      <dgm:spPr/>
    </dgm:pt>
    <dgm:pt modelId="{216927A1-C1DA-4BF6-BAC5-F55B5766DDE4}" type="pres">
      <dgm:prSet presAssocID="{2667EA6F-483D-4037-B17F-BC237CC796BC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02C4D5B5-1829-476F-9031-C3591A019BC3}" type="pres">
      <dgm:prSet presAssocID="{5CB96E96-014F-4C3B-BB56-B59D0D4168C2}" presName="parTxOnlySpace" presStyleCnt="0"/>
      <dgm:spPr/>
    </dgm:pt>
    <dgm:pt modelId="{827CCEC0-22D9-4F06-9353-67778883EF06}" type="pres">
      <dgm:prSet presAssocID="{DE38D3EE-13C9-4136-AD5E-B47115F25A1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E148D8FB-7D5E-4179-87B6-DFD4CEF6EEE1}" type="pres">
      <dgm:prSet presAssocID="{8D8276CB-5030-47A5-BC40-676AD590B4B7}" presName="parTxOnlySpace" presStyleCnt="0"/>
      <dgm:spPr/>
    </dgm:pt>
    <dgm:pt modelId="{E7C2FD9A-77BF-4A06-AB4A-9A56B67FA3E2}" type="pres">
      <dgm:prSet presAssocID="{30E7181C-32CF-4858-9DD6-DF457ADAEB34}" presName="parTxOnly" presStyleLbl="node1" presStyleIdx="2" presStyleCnt="3" custLinFactNeighborX="821" custLinFactNeighborY="0">
        <dgm:presLayoutVars>
          <dgm:chMax val="0"/>
          <dgm:chPref val="0"/>
          <dgm:bulletEnabled val="1"/>
        </dgm:presLayoutVars>
      </dgm:prSet>
      <dgm:spPr/>
    </dgm:pt>
  </dgm:ptLst>
  <dgm:cxnLst>
    <dgm:cxn modelId="{770E320D-56F1-490A-825E-9BEA54C60C47}" type="presOf" srcId="{E500A437-54D4-4412-BAD3-A5FC7F52CA11}" destId="{1AAFA147-DCBE-4443-9AA1-32F6244C1808}" srcOrd="0" destOrd="0" presId="urn:microsoft.com/office/officeart/2005/8/layout/chevron1"/>
    <dgm:cxn modelId="{33463E39-A28F-4B72-9C4E-017DE36B745B}" type="presOf" srcId="{30E7181C-32CF-4858-9DD6-DF457ADAEB34}" destId="{E7C2FD9A-77BF-4A06-AB4A-9A56B67FA3E2}" srcOrd="0" destOrd="0" presId="urn:microsoft.com/office/officeart/2005/8/layout/chevron1"/>
    <dgm:cxn modelId="{A7CC9C5D-3523-4DFA-AB45-F17259A19842}" type="presOf" srcId="{DE38D3EE-13C9-4136-AD5E-B47115F25A14}" destId="{827CCEC0-22D9-4F06-9353-67778883EF06}" srcOrd="0" destOrd="0" presId="urn:microsoft.com/office/officeart/2005/8/layout/chevron1"/>
    <dgm:cxn modelId="{88C6C464-8766-451A-87E8-33BB650E08FC}" type="presOf" srcId="{2667EA6F-483D-4037-B17F-BC237CC796BC}" destId="{216927A1-C1DA-4BF6-BAC5-F55B5766DDE4}" srcOrd="0" destOrd="0" presId="urn:microsoft.com/office/officeart/2005/8/layout/chevron1"/>
    <dgm:cxn modelId="{84A18368-425E-40C4-BFF6-49F62C302FA5}" srcId="{E500A437-54D4-4412-BAD3-A5FC7F52CA11}" destId="{2667EA6F-483D-4037-B17F-BC237CC796BC}" srcOrd="0" destOrd="0" parTransId="{41D3112F-E5BC-4FA0-9788-6B8DA93984A1}" sibTransId="{5CB96E96-014F-4C3B-BB56-B59D0D4168C2}"/>
    <dgm:cxn modelId="{68AC9476-5E3C-448F-B40C-F15BA7560A5E}" srcId="{E500A437-54D4-4412-BAD3-A5FC7F52CA11}" destId="{30E7181C-32CF-4858-9DD6-DF457ADAEB34}" srcOrd="2" destOrd="0" parTransId="{DCA53A32-8487-4BFB-8C9A-0865C206ED72}" sibTransId="{6D879185-74F8-4AC5-BDBF-4BAB33B85DE6}"/>
    <dgm:cxn modelId="{95FE7CDE-EA02-4D33-A352-3870D9798B00}" srcId="{E500A437-54D4-4412-BAD3-A5FC7F52CA11}" destId="{DE38D3EE-13C9-4136-AD5E-B47115F25A14}" srcOrd="1" destOrd="0" parTransId="{A7832172-5C3C-4198-8E3C-8FB5C3BB0028}" sibTransId="{8D8276CB-5030-47A5-BC40-676AD590B4B7}"/>
    <dgm:cxn modelId="{7532A55F-7537-4D2D-9537-A9A93BB12810}" type="presParOf" srcId="{1AAFA147-DCBE-4443-9AA1-32F6244C1808}" destId="{216927A1-C1DA-4BF6-BAC5-F55B5766DDE4}" srcOrd="0" destOrd="0" presId="urn:microsoft.com/office/officeart/2005/8/layout/chevron1"/>
    <dgm:cxn modelId="{80057C07-F9B1-499F-9DD7-2D62EFECBDD8}" type="presParOf" srcId="{1AAFA147-DCBE-4443-9AA1-32F6244C1808}" destId="{02C4D5B5-1829-476F-9031-C3591A019BC3}" srcOrd="1" destOrd="0" presId="urn:microsoft.com/office/officeart/2005/8/layout/chevron1"/>
    <dgm:cxn modelId="{861219AF-3F43-46CB-A559-86F72D70E577}" type="presParOf" srcId="{1AAFA147-DCBE-4443-9AA1-32F6244C1808}" destId="{827CCEC0-22D9-4F06-9353-67778883EF06}" srcOrd="2" destOrd="0" presId="urn:microsoft.com/office/officeart/2005/8/layout/chevron1"/>
    <dgm:cxn modelId="{3F83C9B6-2536-418B-AB44-F4EA8D97B249}" type="presParOf" srcId="{1AAFA147-DCBE-4443-9AA1-32F6244C1808}" destId="{E148D8FB-7D5E-4179-87B6-DFD4CEF6EEE1}" srcOrd="3" destOrd="0" presId="urn:microsoft.com/office/officeart/2005/8/layout/chevron1"/>
    <dgm:cxn modelId="{A1508A24-CC09-49E9-86C3-5D1346BEB7BD}" type="presParOf" srcId="{1AAFA147-DCBE-4443-9AA1-32F6244C1808}" destId="{E7C2FD9A-77BF-4A06-AB4A-9A56B67FA3E2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6927A1-C1DA-4BF6-BAC5-F55B5766DDE4}">
      <dsp:nvSpPr>
        <dsp:cNvPr id="0" name=""/>
        <dsp:cNvSpPr/>
      </dsp:nvSpPr>
      <dsp:spPr>
        <a:xfrm>
          <a:off x="1562" y="2032903"/>
          <a:ext cx="1903361" cy="76134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 student finds a job or internship offer online</a:t>
          </a:r>
          <a:endParaRPr lang="en-IN" sz="1200" kern="1200" dirty="0"/>
        </a:p>
      </dsp:txBody>
      <dsp:txXfrm>
        <a:off x="382234" y="2032903"/>
        <a:ext cx="1142017" cy="761344"/>
      </dsp:txXfrm>
    </dsp:sp>
    <dsp:sp modelId="{827CCEC0-22D9-4F06-9353-67778883EF06}">
      <dsp:nvSpPr>
        <dsp:cNvPr id="0" name=""/>
        <dsp:cNvSpPr/>
      </dsp:nvSpPr>
      <dsp:spPr>
        <a:xfrm>
          <a:off x="1714588" y="2032903"/>
          <a:ext cx="1903361" cy="76134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The student contacts the recruiter</a:t>
          </a:r>
          <a:endParaRPr lang="en-IN" sz="1200" kern="1200" dirty="0"/>
        </a:p>
      </dsp:txBody>
      <dsp:txXfrm>
        <a:off x="2095260" y="2032903"/>
        <a:ext cx="1142017" cy="761344"/>
      </dsp:txXfrm>
    </dsp:sp>
    <dsp:sp modelId="{E7C2FD9A-77BF-4A06-AB4A-9A56B67FA3E2}">
      <dsp:nvSpPr>
        <dsp:cNvPr id="0" name=""/>
        <dsp:cNvSpPr/>
      </dsp:nvSpPr>
      <dsp:spPr>
        <a:xfrm>
          <a:off x="3429176" y="2032903"/>
          <a:ext cx="1903361" cy="76134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The recruiter requests money or personal documents</a:t>
          </a:r>
          <a:endParaRPr lang="en-IN" sz="1200" kern="1200" dirty="0"/>
        </a:p>
      </dsp:txBody>
      <dsp:txXfrm>
        <a:off x="3809848" y="2032903"/>
        <a:ext cx="1142017" cy="7613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7757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320040"/>
            <a:ext cx="8229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Genesi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950" y="384048"/>
            <a:ext cx="534131" cy="6949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2286000" y="6355080"/>
            <a:ext cx="7619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chemeClr val="accent6"/>
                </a:solidFill>
              </a:rPr>
              <a:t>Genesis Ideathon – Pre-Ideathon Template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259007" y="6409944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 rot="5400000">
            <a:off x="10610311" y="4686300"/>
            <a:ext cx="1425408" cy="1234440"/>
          </a:xfrm>
          <a:prstGeom prst="hexagon">
            <a:avLst/>
          </a:prstGeom>
          <a:ln w="15875">
            <a:solidFill>
              <a:schemeClr val="accent4">
                <a:alpha val="2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 rot="5400000">
            <a:off x="9750599" y="534924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2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 rot="5400000">
            <a:off x="11579399" y="384048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1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3.png"/><Relationship Id="rId9" Type="http://schemas.microsoft.com/office/2007/relationships/diagramDrawing" Target="../diagrams/drawin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Hexagon"/>
          <p:cNvSpPr/>
          <p:nvPr/>
        </p:nvSpPr>
        <p:spPr>
          <a:xfrm rot="5400000">
            <a:off x="8841585" y="-122252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Cover Hexagon"/>
          <p:cNvSpPr/>
          <p:nvPr/>
        </p:nvSpPr>
        <p:spPr>
          <a:xfrm rot="5400000">
            <a:off x="10524081" y="1691640"/>
            <a:ext cx="3695502" cy="3200400"/>
          </a:xfrm>
          <a:prstGeom prst="hexagon">
            <a:avLst/>
          </a:prstGeom>
          <a:solidFill>
            <a:schemeClr val="accent1">
              <a:alpha val="25000"/>
            </a:schemeClr>
          </a:solidFill>
          <a:ln w="15875">
            <a:solidFill>
              <a:schemeClr val="accent4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Cover Hexagon"/>
          <p:cNvSpPr/>
          <p:nvPr/>
        </p:nvSpPr>
        <p:spPr>
          <a:xfrm rot="5400000">
            <a:off x="8841585" y="460580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Cover Hexagon"/>
          <p:cNvSpPr/>
          <p:nvPr/>
        </p:nvSpPr>
        <p:spPr>
          <a:xfrm rot="5400000">
            <a:off x="6613359" y="3177540"/>
            <a:ext cx="580722" cy="502920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Cover Hexagon"/>
          <p:cNvSpPr/>
          <p:nvPr/>
        </p:nvSpPr>
        <p:spPr>
          <a:xfrm rot="5400000">
            <a:off x="10849583" y="1728216"/>
            <a:ext cx="337874" cy="292608"/>
          </a:xfrm>
          <a:prstGeom prst="hexagon">
            <a:avLst/>
          </a:prstGeom>
          <a:solidFill>
            <a:schemeClr val="accent3">
              <a:alpha val="7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Cover Hexagon"/>
          <p:cNvSpPr/>
          <p:nvPr/>
        </p:nvSpPr>
        <p:spPr>
          <a:xfrm rot="5400000">
            <a:off x="6868728" y="1440180"/>
            <a:ext cx="4276224" cy="3703320"/>
          </a:xfrm>
          <a:prstGeom prst="hexagon">
            <a:avLst/>
          </a:prstGeom>
          <a:solidFill>
            <a:schemeClr val="accent1">
              <a:alpha val="4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Cover Hexagon"/>
          <p:cNvSpPr/>
          <p:nvPr/>
        </p:nvSpPr>
        <p:spPr>
          <a:xfrm rot="5400000">
            <a:off x="6755697" y="4800600"/>
            <a:ext cx="844686" cy="731520"/>
          </a:xfrm>
          <a:prstGeom prst="hexagon">
            <a:avLst/>
          </a:prstGeom>
          <a:ln w="19050">
            <a:solidFill>
              <a:schemeClr val="accent3">
                <a:alpha val="65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Cover Hexagon"/>
          <p:cNvSpPr/>
          <p:nvPr/>
        </p:nvSpPr>
        <p:spPr>
          <a:xfrm rot="5400000">
            <a:off x="7159089" y="1691640"/>
            <a:ext cx="3695502" cy="3200400"/>
          </a:xfrm>
          <a:prstGeom prst="hexagon">
            <a:avLst/>
          </a:prstGeom>
          <a:solidFill>
            <a:schemeClr val="bg1"/>
          </a:solidFill>
          <a:ln w="381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Genesis Logo" descr="Genesi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66" y="2125980"/>
            <a:ext cx="1792148" cy="2331720"/>
          </a:xfrm>
          <a:prstGeom prst="rect">
            <a:avLst/>
          </a:prstGeom>
        </p:spPr>
      </p:pic>
      <p:sp>
        <p:nvSpPr>
          <p:cNvPr id="11" name="Kicker"/>
          <p:cNvSpPr txBox="1"/>
          <p:nvPr/>
        </p:nvSpPr>
        <p:spPr>
          <a:xfrm>
            <a:off x="548640" y="213167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3"/>
                </a:solidFill>
              </a:rPr>
              <a:t>PRE-IDEATHON TEMPLATE</a:t>
            </a:r>
            <a:endParaRPr lang="en-US" sz="1200" dirty="0"/>
          </a:p>
        </p:txBody>
      </p:sp>
      <p:sp>
        <p:nvSpPr>
          <p:cNvPr id="12" name="Event Title"/>
          <p:cNvSpPr txBox="1"/>
          <p:nvPr/>
        </p:nvSpPr>
        <p:spPr>
          <a:xfrm>
            <a:off x="548640" y="52578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GENESIS</a:t>
            </a:r>
            <a:endParaRPr lang="en-US" sz="5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IDEATHON</a:t>
            </a:r>
            <a:endParaRPr lang="en-US" sz="5400" dirty="0"/>
          </a:p>
        </p:txBody>
      </p:sp>
      <p:sp>
        <p:nvSpPr>
          <p:cNvPr id="13" name="Section Chip"/>
          <p:cNvSpPr/>
          <p:nvPr/>
        </p:nvSpPr>
        <p:spPr>
          <a:xfrm>
            <a:off x="548640" y="2054545"/>
            <a:ext cx="2103120" cy="384048"/>
          </a:xfrm>
          <a:prstGeom prst="roundRect">
            <a:avLst>
              <a:gd name="adj" fmla="val 50000"/>
            </a:avLst>
          </a:prstGeom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chemeClr val="bg1"/>
                </a:solidFill>
              </a:rPr>
              <a:t>TEAM &amp; DOMAIN</a:t>
            </a:r>
            <a:endParaRPr lang="en-US" sz="1300" dirty="0"/>
          </a:p>
        </p:txBody>
      </p:sp>
      <p:sp>
        <p:nvSpPr>
          <p:cNvPr id="15" name="Cover Fields"/>
          <p:cNvSpPr txBox="1"/>
          <p:nvPr/>
        </p:nvSpPr>
        <p:spPr>
          <a:xfrm>
            <a:off x="452628" y="2644978"/>
            <a:ext cx="6035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Team Name – Innovate</a:t>
            </a:r>
            <a:endParaRPr lang="en-US" sz="18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Team Members –</a:t>
            </a:r>
            <a:endParaRPr lang="en-US" dirty="0">
              <a:solidFill>
                <a:schemeClr val="bg1"/>
              </a:solidFill>
            </a:endParaRPr>
          </a:p>
          <a:p>
            <a:pPr>
              <a:spcAft>
                <a:spcPts val="1400"/>
              </a:spcAft>
              <a:buClr>
                <a:schemeClr val="accent3"/>
              </a:buClr>
              <a:buSzPct val="100000"/>
            </a:pPr>
            <a:r>
              <a:rPr lang="en-US" sz="1800" dirty="0">
                <a:solidFill>
                  <a:schemeClr val="bg1"/>
                </a:solidFill>
              </a:rPr>
              <a:t>     Devi Nandana N [CB.SC.U4CYS26110]</a:t>
            </a:r>
          </a:p>
          <a:p>
            <a:pPr>
              <a:spcAft>
                <a:spcPts val="1400"/>
              </a:spcAft>
              <a:buClr>
                <a:schemeClr val="accent3"/>
              </a:buClr>
              <a:buSzPct val="100000"/>
            </a:pPr>
            <a:r>
              <a:rPr lang="en-US" dirty="0">
                <a:solidFill>
                  <a:schemeClr val="bg1"/>
                </a:solidFill>
              </a:rPr>
              <a:t>    S Sadhana [CB.SC.U4CYS26148]</a:t>
            </a:r>
          </a:p>
          <a:p>
            <a:pPr>
              <a:spcAft>
                <a:spcPts val="1400"/>
              </a:spcAft>
              <a:buClr>
                <a:schemeClr val="accent3"/>
              </a:buClr>
              <a:buSzPct val="100000"/>
            </a:pPr>
            <a:r>
              <a:rPr lang="en-US" sz="1800" dirty="0">
                <a:solidFill>
                  <a:schemeClr val="bg1"/>
                </a:solidFill>
              </a:rPr>
              <a:t>    </a:t>
            </a:r>
            <a:r>
              <a:rPr lang="en-US" dirty="0">
                <a:solidFill>
                  <a:schemeClr val="bg1"/>
                </a:solidFill>
              </a:rPr>
              <a:t>Mahisalini D S [CB.SC.U4CYS26125]</a:t>
            </a:r>
          </a:p>
          <a:p>
            <a:pPr>
              <a:spcAft>
                <a:spcPts val="1400"/>
              </a:spcAft>
              <a:buClr>
                <a:schemeClr val="accent3"/>
              </a:buClr>
              <a:buSzPct val="100000"/>
            </a:pPr>
            <a:r>
              <a:rPr lang="en-US" sz="1800" dirty="0">
                <a:solidFill>
                  <a:schemeClr val="bg1"/>
                </a:solidFill>
              </a:rPr>
              <a:t>    </a:t>
            </a:r>
            <a:r>
              <a:rPr lang="en-US" dirty="0">
                <a:solidFill>
                  <a:schemeClr val="bg1"/>
                </a:solidFill>
              </a:rPr>
              <a:t>S Nandhana [CB.SC.U4CYS26146]</a:t>
            </a:r>
            <a:endParaRPr lang="en-US" sz="18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Selected Domain – #7 </a:t>
            </a:r>
            <a:endParaRPr lang="en-US" sz="18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Problem Statement –</a:t>
            </a:r>
            <a:r>
              <a:rPr lang="en-US" dirty="0">
                <a:solidFill>
                  <a:schemeClr val="bg1"/>
                </a:solidFill>
              </a:rPr>
              <a:t> Students face fake job and internship offers, leading to financial loss and misuse of personal information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PROBLEM IN OUR WORDS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 algn="ctr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Innovate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0152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60" y="1503329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053426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chemeClr val="accent2"/>
                </a:solidFill>
              </a:rPr>
              <a:t>Fake job and internship offers: Students are asked for a "registration fee" or tricked into sharing documents. </a:t>
            </a:r>
          </a:p>
          <a:p>
            <a:r>
              <a:rPr lang="en-US" b="1" dirty="0">
                <a:solidFill>
                  <a:schemeClr val="accent2"/>
                </a:solidFill>
              </a:rPr>
              <a:t>Idea: A verification system that verifies a company and an offer's authenticity.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1053426" y="21488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What exactly needs to be solved?</a:t>
            </a:r>
            <a:endParaRPr lang="en-US" dirty="0"/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dirty="0"/>
              <a:t>Scammers post fake job and internship offers that look real.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dirty="0"/>
              <a:t>Students are asked to pay a "registration fee" or to share personal documents (ID, marksheets, bank details).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dirty="0"/>
              <a:t>There is no quick, easy way for a student to check whether a company or an offer is genuine before acting on it.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dirty="0"/>
              <a:t>We need a </a:t>
            </a:r>
            <a:r>
              <a:rPr lang="en-US" dirty="0">
                <a:solidFill>
                  <a:schemeClr val="accent2"/>
                </a:solidFill>
              </a:rPr>
              <a:t>verification system</a:t>
            </a:r>
            <a:r>
              <a:rPr lang="en-US" dirty="0"/>
              <a:t> that verifies the company and the authenticity of the offer.</a:t>
            </a: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Why is it important right now?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dirty="0"/>
              <a:t>Students are eager for internships and first jobs, which makes them easy targets.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dirty="0"/>
              <a:t>Scams spread fast through WhatsApp, Telegram, E-mail and LinkedIn.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dirty="0"/>
              <a:t>Shared documents can lead to identity theft and financial loss.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dirty="0"/>
              <a:t>Victims often face loss of both money and trust, and many never report it.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AFFECTED?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algn="ctr"/>
            <a:r>
              <a:rPr lang="en-US" sz="1500" b="1" dirty="0">
                <a:solidFill>
                  <a:schemeClr val="accent1"/>
                </a:solidFill>
              </a:rPr>
              <a:t>Innovate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65342" y="1237799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02" y="1294996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43000" y="160477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1234440" y="1280160"/>
            <a:ext cx="10100631" cy="1112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US" sz="1800" b="1" dirty="0"/>
              <a:t>Primary users :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College students looking for internships and first jobs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Fresh graduates and entry-level job seekers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b="1" dirty="0"/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1800" b="1" dirty="0">
                <a:solidFill>
                  <a:schemeClr val="tx1"/>
                </a:solidFill>
              </a:rPr>
              <a:t>Secondary stakeholders :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College placement cells and career guidance teams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Genuine recruiters and companies whose names are impersonated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Job portals and internship platforms</a:t>
            </a:r>
            <a:endParaRPr lang="en-IN" dirty="0"/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endParaRPr lang="en-US" sz="1800" b="1" dirty="0"/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1800" b="1" dirty="0">
                <a:solidFill>
                  <a:schemeClr val="tx1"/>
                </a:solidFill>
              </a:rPr>
              <a:t>Who benefits if the problem is solved?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Students can avoid fraudulent job offers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Colleges can protect their students from scams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Recruiters and job platforms can build trust among applicants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SITUATION &amp; CONTEXT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algn="ctr"/>
            <a:r>
              <a:rPr lang="en-US" sz="1500" b="1" dirty="0">
                <a:solidFill>
                  <a:schemeClr val="accent1"/>
                </a:solidFill>
              </a:rPr>
              <a:t>Innovate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53212" y="1260402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" y="1321210"/>
            <a:ext cx="274320" cy="274320"/>
          </a:xfrm>
          <a:prstGeom prst="rect">
            <a:avLst/>
          </a:prstGeom>
        </p:spPr>
      </p:pic>
      <p:sp>
        <p:nvSpPr>
          <p:cNvPr id="10" name="Prompts"/>
          <p:cNvSpPr txBox="1"/>
          <p:nvPr/>
        </p:nvSpPr>
        <p:spPr>
          <a:xfrm>
            <a:off x="1101852" y="1355705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1800" b="1" dirty="0">
                <a:solidFill>
                  <a:schemeClr val="tx1"/>
                </a:solidFill>
              </a:rPr>
              <a:t>Existing scenario and background :</a:t>
            </a:r>
            <a:endParaRPr lang="en-US" sz="1800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Fake job and internship offers are circulated through WhatsApp, Telegram, email and social media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Scammers impersonate genuine companies and recruiters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Students may be asked to pay registration fees or share sensitive documents</a:t>
            </a: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1800" b="1" dirty="0">
                <a:solidFill>
                  <a:schemeClr val="tx1"/>
                </a:solidFill>
              </a:rPr>
              <a:t>Relevant data and facts 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Fake offers can cause financial loss and identity theft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Fraudulent recruiters may misuse company names, logos and contact details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Students may struggle to distinguish genuine opportunities from fake ones</a:t>
            </a:r>
          </a:p>
          <a:p>
            <a:pPr lvl="0"/>
            <a:endParaRPr lang="en-US" sz="1800" b="1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1800" b="1" dirty="0">
                <a:solidFill>
                  <a:schemeClr val="tx1"/>
                </a:solidFill>
              </a:rPr>
              <a:t>Current workflow</a:t>
            </a:r>
            <a:r>
              <a:rPr lang="en-US" b="1" dirty="0"/>
              <a:t> :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4</a:t>
            </a:fld>
            <a:endParaRPr lang="en-US"/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859D2B82-CF01-3097-F5A5-9CDAB4B83B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3512893"/>
              </p:ext>
            </p:extLst>
          </p:nvPr>
        </p:nvGraphicFramePr>
        <p:xfrm>
          <a:off x="914996" y="3015555"/>
          <a:ext cx="5332538" cy="4827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9518487E-F34C-E7FC-D5DA-F634E91DB5DC}"/>
              </a:ext>
            </a:extLst>
          </p:cNvPr>
          <p:cNvGrpSpPr/>
          <p:nvPr/>
        </p:nvGrpSpPr>
        <p:grpSpPr>
          <a:xfrm>
            <a:off x="6166527" y="4976030"/>
            <a:ext cx="3221121" cy="906202"/>
            <a:chOff x="5152829" y="5327261"/>
            <a:chExt cx="3000347" cy="617472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4041B1F-C450-B338-17F2-821662768D76}"/>
                </a:ext>
              </a:extLst>
            </p:cNvPr>
            <p:cNvSpPr/>
            <p:nvPr/>
          </p:nvSpPr>
          <p:spPr>
            <a:xfrm>
              <a:off x="5152829" y="5327261"/>
              <a:ext cx="1543677" cy="617471"/>
            </a:xfrm>
            <a:custGeom>
              <a:avLst/>
              <a:gdLst>
                <a:gd name="csX0" fmla="*/ 0 w 1543677"/>
                <a:gd name="csY0" fmla="*/ 0 h 617471"/>
                <a:gd name="csX1" fmla="*/ 1234942 w 1543677"/>
                <a:gd name="csY1" fmla="*/ 0 h 617471"/>
                <a:gd name="csX2" fmla="*/ 1543677 w 1543677"/>
                <a:gd name="csY2" fmla="*/ 308736 h 617471"/>
                <a:gd name="csX3" fmla="*/ 1234942 w 1543677"/>
                <a:gd name="csY3" fmla="*/ 617471 h 617471"/>
                <a:gd name="csX4" fmla="*/ 0 w 1543677"/>
                <a:gd name="csY4" fmla="*/ 617471 h 617471"/>
                <a:gd name="csX5" fmla="*/ 308736 w 1543677"/>
                <a:gd name="csY5" fmla="*/ 308736 h 617471"/>
                <a:gd name="csX6" fmla="*/ 0 w 1543677"/>
                <a:gd name="csY6" fmla="*/ 0 h 6174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543677" h="617471">
                  <a:moveTo>
                    <a:pt x="0" y="0"/>
                  </a:moveTo>
                  <a:lnTo>
                    <a:pt x="1234942" y="0"/>
                  </a:lnTo>
                  <a:lnTo>
                    <a:pt x="1543677" y="308736"/>
                  </a:lnTo>
                  <a:lnTo>
                    <a:pt x="1234942" y="617471"/>
                  </a:lnTo>
                  <a:lnTo>
                    <a:pt x="0" y="617471"/>
                  </a:lnTo>
                  <a:lnTo>
                    <a:pt x="308736" y="308736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16750" tIns="36005" rIns="344740" bIns="36005" numCol="1" spcCol="1270" anchor="ctr" anchorCtr="0">
              <a:noAutofit/>
            </a:bodyPr>
            <a:lstStyle/>
            <a:p>
              <a:pPr lvl="0" algn="ctr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dirty="0"/>
                <a:t>The student </a:t>
              </a:r>
              <a:r>
                <a:rPr lang="en-US" sz="1000" dirty="0"/>
                <a:t>trusts the offer and shares the information</a:t>
              </a:r>
              <a:endParaRPr lang="en-IN" sz="1000" kern="120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E0A0AC8-29E5-28BD-D15B-68D1D0D88E11}"/>
                </a:ext>
              </a:extLst>
            </p:cNvPr>
            <p:cNvSpPr/>
            <p:nvPr/>
          </p:nvSpPr>
          <p:spPr>
            <a:xfrm>
              <a:off x="6609499" y="5327262"/>
              <a:ext cx="1543677" cy="617471"/>
            </a:xfrm>
            <a:custGeom>
              <a:avLst/>
              <a:gdLst>
                <a:gd name="csX0" fmla="*/ 0 w 1543677"/>
                <a:gd name="csY0" fmla="*/ 0 h 617471"/>
                <a:gd name="csX1" fmla="*/ 1234942 w 1543677"/>
                <a:gd name="csY1" fmla="*/ 0 h 617471"/>
                <a:gd name="csX2" fmla="*/ 1543677 w 1543677"/>
                <a:gd name="csY2" fmla="*/ 308736 h 617471"/>
                <a:gd name="csX3" fmla="*/ 1234942 w 1543677"/>
                <a:gd name="csY3" fmla="*/ 617471 h 617471"/>
                <a:gd name="csX4" fmla="*/ 0 w 1543677"/>
                <a:gd name="csY4" fmla="*/ 617471 h 617471"/>
                <a:gd name="csX5" fmla="*/ 308736 w 1543677"/>
                <a:gd name="csY5" fmla="*/ 308736 h 617471"/>
                <a:gd name="csX6" fmla="*/ 0 w 1543677"/>
                <a:gd name="csY6" fmla="*/ 0 h 6174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543677" h="617471">
                  <a:moveTo>
                    <a:pt x="0" y="0"/>
                  </a:moveTo>
                  <a:lnTo>
                    <a:pt x="1234942" y="0"/>
                  </a:lnTo>
                  <a:lnTo>
                    <a:pt x="1543677" y="308736"/>
                  </a:lnTo>
                  <a:lnTo>
                    <a:pt x="1234942" y="617471"/>
                  </a:lnTo>
                  <a:lnTo>
                    <a:pt x="0" y="617471"/>
                  </a:lnTo>
                  <a:lnTo>
                    <a:pt x="308736" y="308736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16750" tIns="36005" rIns="344740" bIns="36005" numCol="1" spcCol="1270" anchor="ctr" anchorCtr="0">
              <a:noAutofit/>
            </a:bodyPr>
            <a:lstStyle/>
            <a:p>
              <a:pPr lvl="0" algn="ctr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00" dirty="0"/>
                <a:t>The student may suffer financial loss or misuse of personal information</a:t>
              </a:r>
              <a:endParaRPr lang="en-IN" sz="1000" kern="12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2697480" y="268162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CHALLENGES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 algn="ctr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Innovate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10" name="Prompts"/>
          <p:cNvSpPr txBox="1"/>
          <p:nvPr/>
        </p:nvSpPr>
        <p:spPr>
          <a:xfrm>
            <a:off x="1234440" y="152339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1800" b="1" dirty="0">
                <a:solidFill>
                  <a:schemeClr val="tx1"/>
                </a:solidFill>
              </a:rPr>
              <a:t>Main difficulties and bottlenecks 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Impersonation: Scammers copy genuine company names and logos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Difficult verification: Students may not know where official vacancies are listed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Pressure tactics: Urgent deadlines and promises of guaranteed selection discourage careful checking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Financial and privacy risks: Students may pay fees or share sensitive documents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Limited awareness: First-time applicants may not recognise common warning signs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b="1" dirty="0"/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1800" b="1" dirty="0">
                <a:solidFill>
                  <a:schemeClr val="tx1"/>
                </a:solidFill>
              </a:rPr>
              <a:t>Root causes behind them 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Lack of awareness about job scams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Fake websites and impersonated company profiles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Easily forged offer letters and recruiter identities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Absence of a simple, unified verification process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Consequences : </a:t>
            </a:r>
            <a:r>
              <a:rPr lang="en-IN" dirty="0"/>
              <a:t>Financial loss, identity misuse, wasted time, and reduced trust in legitimate opportunities</a:t>
            </a:r>
            <a:endParaRPr lang="en-IN" b="1" dirty="0"/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/ APPROACHES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 algn="ctr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Innovate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10" name="Prompts"/>
          <p:cNvSpPr txBox="1"/>
          <p:nvPr/>
        </p:nvSpPr>
        <p:spPr>
          <a:xfrm>
            <a:off x="1234440" y="14630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1800" b="1" dirty="0">
                <a:solidFill>
                  <a:schemeClr val="tx1"/>
                </a:solidFill>
              </a:rPr>
              <a:t>Existing system and limitations:</a:t>
            </a:r>
          </a:p>
          <a:p>
            <a:r>
              <a:rPr lang="en-IN" b="1" dirty="0"/>
              <a:t>Online Searches and Reviews</a:t>
            </a:r>
            <a:endParaRPr lang="en-IN" dirty="0"/>
          </a:p>
          <a:p>
            <a:pPr lvl="0"/>
            <a:r>
              <a:rPr lang="en-IN" dirty="0"/>
              <a:t>Students can search for company information and recruiter feedback</a:t>
            </a:r>
          </a:p>
          <a:p>
            <a:pPr lvl="0"/>
            <a:r>
              <a:rPr lang="en-IN" b="1" dirty="0"/>
              <a:t>Limitation:</a:t>
            </a:r>
            <a:r>
              <a:rPr lang="en-IN" dirty="0"/>
              <a:t> Information may be incomplete, outdated or misleading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sz="1800" b="1" dirty="0"/>
          </a:p>
          <a:p>
            <a:r>
              <a:rPr lang="en-IN" b="1" dirty="0"/>
              <a:t>Cybercrime Reporting Platforms</a:t>
            </a:r>
            <a:endParaRPr lang="en-IN" dirty="0"/>
          </a:p>
          <a:p>
            <a:pPr lvl="0"/>
            <a:r>
              <a:rPr lang="en-IN" dirty="0"/>
              <a:t>Victims can report suspected online fraud </a:t>
            </a:r>
          </a:p>
          <a:p>
            <a:pPr lvl="0"/>
            <a:r>
              <a:rPr lang="en-IN" b="1" dirty="0"/>
              <a:t>Limitation:</a:t>
            </a:r>
            <a:r>
              <a:rPr lang="en-IN" dirty="0"/>
              <a:t> Reporting helps address suspected fraud, but students still need a way to check offers before acting on them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b="1" dirty="0"/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1800" b="1" dirty="0">
                <a:solidFill>
                  <a:schemeClr val="tx1"/>
                </a:solidFill>
              </a:rPr>
              <a:t>The gap: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Existing checks often require students to search across multiple websites and sources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 genuine company's name or logo can be misused by scammers, making fake offers look trustworthy</a:t>
            </a:r>
          </a:p>
          <a:p>
            <a:pPr lvl="0"/>
            <a:r>
              <a:rPr lang="en-IN" b="1" dirty="0"/>
              <a:t>Solution : </a:t>
            </a:r>
            <a:r>
              <a:rPr lang="en-IN" dirty="0"/>
              <a:t>A simple, student-friendly system that checks company details, recruiter authenticity and suspicious offer characteristics in one place</a:t>
            </a:r>
            <a:endParaRPr lang="en-IN" b="1" dirty="0"/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INSIGHTS &amp; OPPORTUNITY AREAS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 algn="ctr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Innovate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85216" y="12344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128016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1234440" y="1301321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b="1" dirty="0"/>
              <a:t>Software Requirements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 simple website where users paste an offer or message.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 rule-based risk assessment system.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Checks for suspicious links, email domains, payment requests, and pressure tactics.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 results page showing warnings and recommended next steps.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dirty="0"/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b="1" dirty="0">
                <a:solidFill>
                  <a:schemeClr val="tx1"/>
                </a:solidFill>
              </a:rPr>
              <a:t>Hardware Requirements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 laptop or computer for development and testing.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 phone for testing how students use the system.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b="1" dirty="0"/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1800" b="1" dirty="0">
                <a:solidFill>
                  <a:schemeClr val="tx1"/>
                </a:solidFill>
              </a:rPr>
              <a:t>Other resources </a:t>
            </a:r>
            <a:r>
              <a:rPr lang="en-US" b="1" dirty="0"/>
              <a:t>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Team members for research, coding, design, and testing.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Sample legitimate and fraudulent offers, handled safely and with personal details removed.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Feedback from students and, if possible, a placement professional.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b="1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DIRECTION &amp; EXPECTED OUTCOME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 algn="ctr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Innovate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2344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28016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1170432" y="1255528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 What We Intend to Do</a:t>
            </a:r>
          </a:p>
          <a:p>
            <a:r>
              <a:rPr lang="en-IN" dirty="0"/>
              <a:t>Develop a web-based tool where students can enter company details, recruiter information or job-offer links for preliminary verification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How It Will Work</a:t>
            </a:r>
          </a:p>
          <a:p>
            <a:pPr lvl="0"/>
            <a:r>
              <a:rPr lang="en-IN" dirty="0"/>
              <a:t>The student enters the job offer or company details</a:t>
            </a:r>
          </a:p>
          <a:p>
            <a:pPr lvl="0"/>
            <a:r>
              <a:rPr lang="en-IN" dirty="0"/>
              <a:t>The system checks available company information against trusted sources</a:t>
            </a:r>
          </a:p>
          <a:p>
            <a:pPr lvl="0"/>
            <a:r>
              <a:rPr lang="en-IN" dirty="0"/>
              <a:t>It identifies suspicious indicators, such as unofficial contact details or requests for registration fees</a:t>
            </a:r>
          </a:p>
          <a:p>
            <a:pPr lvl="0"/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What We Want to Improve</a:t>
            </a:r>
          </a:p>
          <a:p>
            <a:pPr lvl="0"/>
            <a:r>
              <a:rPr lang="en-IN" dirty="0"/>
              <a:t>Make job-offer verification easier and faster</a:t>
            </a:r>
          </a:p>
          <a:p>
            <a:pPr lvl="0"/>
            <a:r>
              <a:rPr lang="en-IN" dirty="0"/>
              <a:t>Help students recognize warning signs before taking action </a:t>
            </a:r>
          </a:p>
          <a:p>
            <a:pPr lvl="0"/>
            <a:r>
              <a:rPr lang="en-IN" dirty="0"/>
              <a:t>Reduce the risk of financial loss and document misuse</a:t>
            </a:r>
          </a:p>
          <a:p>
            <a:pPr lvl="0"/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Expected Outcome</a:t>
            </a:r>
          </a:p>
          <a:p>
            <a:pPr lvl="0"/>
            <a:r>
              <a:rPr lang="en-IN" dirty="0"/>
              <a:t>A working prototype of the verification system </a:t>
            </a:r>
          </a:p>
          <a:p>
            <a:pPr lvl="0"/>
            <a:r>
              <a:rPr lang="en-IN" dirty="0"/>
              <a:t>Clear warnings about suspicious offers</a:t>
            </a:r>
          </a:p>
          <a:p>
            <a:pPr lvl="0"/>
            <a:r>
              <a:rPr lang="en-IN" dirty="0"/>
              <a:t>Better-informed students who can make safer decisions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945</Words>
  <Application>Microsoft Office PowerPoint</Application>
  <PresentationFormat>Widescreen</PresentationFormat>
  <Paragraphs>147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Genesis Ideathon</vt:lpstr>
      <vt:lpstr>PowerPoint Presentation</vt:lpstr>
      <vt:lpstr>DOMAIN PROBLEM IN OUR WORDS</vt:lpstr>
      <vt:lpstr>WHO IS AFFECTED?</vt:lpstr>
      <vt:lpstr>CURRENT SITUATION &amp; CONTEXT</vt:lpstr>
      <vt:lpstr>KEY CHALLENGES</vt:lpstr>
      <vt:lpstr>EXISTING SOLUTIONS / APPROACHES</vt:lpstr>
      <vt:lpstr>PROBLEM INSIGHTS &amp; OPPORTUNITY AREAS</vt:lpstr>
      <vt:lpstr>INITIAL DIRECTION &amp; EXPECTED OUTCOME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 Ideathon – Pre-Ideathon Template</dc:title>
  <dc:subject>PptxGenJS Presentation</dc:subject>
  <dc:creator>Genesis Ideathon</dc:creator>
  <cp:lastModifiedBy>Devi Nandana N</cp:lastModifiedBy>
  <cp:revision>3</cp:revision>
  <dcterms:created xsi:type="dcterms:W3CDTF">2026-10-07T15:27:40Z</dcterms:created>
  <dcterms:modified xsi:type="dcterms:W3CDTF">2026-10-09T17:41:26Z</dcterms:modified>
</cp:coreProperties>
</file>